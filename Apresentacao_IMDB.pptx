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301fc23-9628-fa5f-c6ab-62043add96e0}">
          <p14:sldIdLst>
            <p14:sldId id="256"/>
          </p14:sldIdLst>
        </p14:section>
        <p14:section name="Situação e tarefa" id="{5447bb57-cf98-a0b9-775a-c483716debb8}">
          <p14:sldIdLst>
            <p14:sldId id="257"/>
          </p14:sldIdLst>
        </p14:section>
        <p14:section name="Contexto" id="{709ad075-2c94-15e3-53d8-65f1cab764bb}">
          <p14:sldIdLst>
            <p14:sldId id="258"/>
            <p14:sldId id="259"/>
            <p14:sldId id="260"/>
          </p14:sldIdLst>
        </p14:section>
        <p14:section name="Ação" id="{e4aa9905-1eb3-5d5f-0c59-6a72102b4073}">
          <p14:sldIdLst>
            <p14:sldId id="261"/>
          </p14:sldIdLst>
        </p14:section>
        <p14:section name="Resultado" id="{40c3c722-fd74-00c9-9687-2cba56d57a8b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comendações" id="{9aaf8398-dceb-3307-8cc5-f255a2dda1c5}">
          <p14:sldIdLst>
            <p14:sldId id="268"/>
            <p14:sldId id="269"/>
          </p14:sldIdLst>
        </p14:section>
        <p14:section name="Encerramento" id="{160f8c80-ae6f-8b72-8d36-670e2889971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2262E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22262E"/>
                </a:solidFill>
                <a:latin typeface="+mn-lt"/>
              </a:rPr>
              <a:t>Nota típica, por orçamento típico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Nota</c:v>
                </c:pt>
              </c:strCache>
            </c:strRef>
          </c:tx>
          <c:spPr>
            <a:solidFill>
              <a:srgbClr val="C4C8C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2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US$ 5 mi</c:v>
                  </c:pt>
                  <c:pt idx="1">
                    <c:v>US$ 16 mi</c:v>
                  </c:pt>
                  <c:pt idx="2">
                    <c:v>US$ 30 mi</c:v>
                  </c:pt>
                  <c:pt idx="3">
                    <c:v>US$ 60 mi</c:v>
                  </c:pt>
                  <c:pt idx="4">
                    <c:v>US$ 125 mi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</c:v>
                </c:pt>
                <c:pt idx="1">
                  <c:v>66</c:v>
                </c:pt>
                <c:pt idx="2">
                  <c:v>65</c:v>
                </c:pt>
                <c:pt idx="3">
                  <c:v>65</c:v>
                </c:pt>
                <c:pt idx="4">
                  <c:v>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400" u="none">
                  <a:solidFill>
                    <a:srgbClr val="22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2262E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22262E"/>
                </a:solidFill>
                <a:latin typeface="+mn-lt"/>
              </a:rPr>
              <a:t>Filmes que faturaram menos do que custaram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Prejuízo</c:v>
                </c:pt>
              </c:strCache>
            </c:strRef>
          </c:tx>
          <c:spPr>
            <a:solidFill>
              <a:srgbClr val="C4C8C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2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C8C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C8C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C8C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C8C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A1F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US$ 5 mi</c:v>
                  </c:pt>
                  <c:pt idx="1">
                    <c:v>US$ 16 mi</c:v>
                  </c:pt>
                  <c:pt idx="2">
                    <c:v>US$ 30 mi</c:v>
                  </c:pt>
                  <c:pt idx="3">
                    <c:v>US$ 60 mi</c:v>
                  </c:pt>
                  <c:pt idx="4">
                    <c:v>US$ 125 mi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0.23</c:v>
                </c:pt>
                <c:pt idx="1">
                  <c:v>0.25</c:v>
                </c:pt>
                <c:pt idx="2">
                  <c:v>0.27</c:v>
                </c:pt>
                <c:pt idx="3">
                  <c:v>0.24</c:v>
                </c:pt>
                <c:pt idx="4">
                  <c:v>0.08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400" u="none">
                  <a:solidFill>
                    <a:srgbClr val="22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9525" cap="flat">
              <a:solidFill>
                <a:srgbClr val="E6E8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Explica</c:v>
                </c:pt>
              </c:strCache>
            </c:strRef>
          </c:tx>
          <c:spPr>
            <a:solidFill>
              <a:srgbClr val="7A1F2B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2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1F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A9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C8C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C8C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C8C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Diretor</c:v>
                  </c:pt>
                  <c:pt idx="1">
                    <c:v>Ator principal</c:v>
                  </c:pt>
                  <c:pt idx="2">
                    <c:v>Gênero</c:v>
                  </c:pt>
                  <c:pt idx="3">
                    <c:v>Década</c:v>
                  </c:pt>
                  <c:pt idx="4">
                    <c:v>Idioma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0.355</c:v>
                </c:pt>
                <c:pt idx="1">
                  <c:v>0.21</c:v>
                </c:pt>
                <c:pt idx="2">
                  <c:v>0.094</c:v>
                </c:pt>
                <c:pt idx="3">
                  <c:v>0.033</c:v>
                </c:pt>
                <c:pt idx="4">
                  <c:v>0.029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400" u="none">
                  <a:solidFill>
                    <a:srgbClr val="22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6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b"/>
        <c:majorGridlines>
          <c:spPr>
            <a:ln w="9525" cap="flat">
              <a:solidFill>
                <a:srgbClr val="E6E8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2262E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22262E"/>
                </a:solidFill>
                <a:latin typeface="+mn-lt"/>
              </a:rPr>
              <a:t>Receita, em relação ao 1º filme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2F5D8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2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2º filme</c:v>
                  </c:pt>
                  <c:pt idx="1">
                    <c:v>3º filme</c:v>
                  </c:pt>
                  <c:pt idx="2">
                    <c:v>4º filme</c:v>
                  </c:pt>
                  <c:pt idx="3">
                    <c:v>5º filme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1.07</c:v>
                </c:pt>
                <c:pt idx="1">
                  <c:v>1</c:v>
                </c:pt>
                <c:pt idx="2">
                  <c:v>1.1</c:v>
                </c:pt>
                <c:pt idx="3">
                  <c:v>0.91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400" u="none">
                  <a:solidFill>
                    <a:srgbClr val="22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6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9525" cap="flat">
              <a:solidFill>
                <a:srgbClr val="E6E8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2262E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22262E"/>
                </a:solidFill>
                <a:latin typeface="+mn-lt"/>
              </a:rPr>
              <a:t>Pontos de nota perdidos, em relação ao 1º filme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Nota</c:v>
                </c:pt>
              </c:strCache>
            </c:strRef>
          </c:tx>
          <c:spPr>
            <a:solidFill>
              <a:srgbClr val="7A1F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2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2º filme</c:v>
                  </c:pt>
                  <c:pt idx="1">
                    <c:v>3º filme</c:v>
                  </c:pt>
                  <c:pt idx="2">
                    <c:v>4º filme</c:v>
                  </c:pt>
                  <c:pt idx="3">
                    <c:v>5º filme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-4</c:v>
                </c:pt>
                <c:pt idx="1">
                  <c:v>-6</c:v>
                </c:pt>
                <c:pt idx="2">
                  <c:v>-7</c:v>
                </c:pt>
                <c:pt idx="3">
                  <c:v>-6.5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400" u="none">
                  <a:solidFill>
                    <a:srgbClr val="22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6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8"/>
        </c:scaling>
        <c:delete val="0"/>
        <c:axPos val="l"/>
        <c:majorGridlines>
          <c:spPr>
            <a:ln w="9525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Abro com a pergunta que guia tudo: nota alta dá dinheiro? Vamos ver que, na maior parte das vezes,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cliente quer saber o que agrada o público, o que dá dinheiro e onde as duas coisas se separam. Minha tarefa foi responder 9 perguntas com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de 25,9 milhões vem da página da Wikipedia sobre o IMDb. A nossa amostra tem 10.178 filmes, o mais antigo de 1903.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ROI compara faturamento e custo. Mas a bilheteria é bruta, o marketing não entra, e nesta base um terço das receitas tinha centavos, coisa que bilheteria real não tem. Por isso uso o ROI só para comparar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o diretor, uma das perguntas ficaria sem resposta. Com o Wikidata, 80% dos filmes ganharam diretor. E ele virou o achado mais forte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Mais da metade do trabalho foi limpeza. Das 10.178 linhas, sobram 9.790 filmes para falar de nota, e 4.642 com dinheiro confiável para falar de ROI.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Orçamento e receita andam juntos (0,70). Nota e receita quase não (0,14). Orçamento e nota,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Dividi os filmes em quatro grupos. O maior grupo com nota alta é o que não faturou muito.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filme de 5 milhões ao de 125 milhões, a nota é praticamente a mesma. O que muda é o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dado só existe porque trouxemos o diretor do Wikidata. O diretor explica mais da nota do que o ator, o gênero ou a época.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receita das continuações fica entre 91% e 110% da do primeiro filme. A nota cai de 4 a 7 pontos e não volta.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terror é barato e tem público fiel: qualquer bilheteria média vira retorno alto. O drama agrada mais, mas rende menos por dólar.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objetivo pede uma aposta diferente. Não existe filme que garanta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análise tem limites. Esses são os quatro mais importantes, cada um com o caminho para resolver.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Agradeço e deixo os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7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Filmes: reputação x retorno financeiro | Danielli Arçari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nielli-arcari/ProjetodeAnalise_BasedeDadosIMDB" TargetMode="External"/><Relationship Id="rId3" Type="http://schemas.openxmlformats.org/officeDocument/2006/relationships/hyperlink" Target="https://linkedin.com/in/danielli-arcari" TargetMode="External"/><Relationship Id="rId4" Type="http://schemas.openxmlformats.org/officeDocument/2006/relationships/hyperlink" Target="https://github.com/danielli-arcari" TargetMode="External"/><Relationship Id="rId5" Type="http://schemas.openxmlformats.org/officeDocument/2006/relationships/hyperlink" Target="https://danielliarcari.vercel.app" TargetMode="External"/><Relationship Id="rId1" Type="http://schemas.openxmlformats.org/officeDocument/2006/relationships/image" Target="../media/image-15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Nota alta dá dinheiro?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Filmes: reputação x retorno financeiro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3DADD"/>
                </a:solidFill>
              </a:rPr>
              <a:t>Uma análise de 10.178 filmes, de 1903 a 2023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Danielli Arçari | Treinamento de Exploração e Análise de Dados</a:t>
            </a:r>
            <a:endParaRPr lang="en-US" sz="1500" dirty="0"/>
          </a:p>
        </p:txBody>
      </p:sp>
      <p:pic>
        <p:nvPicPr>
          <p:cNvPr id="6" name="Image 0" descr="proj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91440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cliente quer saber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29800" y="2926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442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014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Um cliente que produz e distribui filmes quer decidir onde investir. Ele tem três dúvidas: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74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faz o público gostar de um filme?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97680" y="251460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743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474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faz um filme dar dinheiro?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46720" y="251460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2743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474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Onde essas duas coisas não andam juntas?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937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Minha tarefa: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responder 9 perguntas de negócio com dados, gráficos e uma conclusão prática para cada uma.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vêm os dados: o IMDb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29800" y="2926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442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014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6916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O IMDb (Internet Movie Database) é um dos maiores catálogos de filmes e séries do mundo, com ficha técnica, elenco e notas dadas pelo público.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25,9 mi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86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títulos no IMDb inteiro, contando séries e episódios (set. 2025)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10.178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886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filmes na amostra que usei, publicada no Kaggle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720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 filme mais antigo da amostra: The Life and Passion of Jesus Christ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5720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5486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 ano dos lançamentos mais recentes</a:t>
            </a:r>
            <a:endParaRPr lang="en-US" sz="1500" dirty="0"/>
          </a:p>
        </p:txBody>
      </p:sp>
      <p:pic>
        <p:nvPicPr>
          <p:cNvPr id="20" name="Image 0" descr="fil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463040"/>
            <a:ext cx="429768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ROI, e por que é difícil medir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29800" y="2926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442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014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67665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182880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= quanto faturou ÷ quanto custou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ROI 2 = o filme faturou o dobro do que custou. É a medida que liga o dinheiro à decisão do cliente.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Por que é difícil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Parte da bilheteria fica com os cinemas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 custo de marketing não entra no orçamento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Streaming e TV ficam de fora da receita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Nesta base, 1 em cada 3 receitas tinha sinais de valor inventado</a:t>
            </a:r>
            <a:endParaRPr lang="en-US" sz="1800" dirty="0"/>
          </a:p>
        </p:txBody>
      </p:sp>
      <p:pic>
        <p:nvPicPr>
          <p:cNvPr id="15" name="Image 0" descr="ingres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63040"/>
            <a:ext cx="4114800" cy="4114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Wikidata entrou na história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29800" y="2926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442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014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691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 problema: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uma das perguntas era sobre quem faz o filme. Mas a coluna "equipe" da base só tinha atores. Nenhum diretor.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889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 solução: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o Wikidata, uma base aberta da mesma organização da Wikipedia. Dá para consultar por programa e trazer o diretor de cada filme.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60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7.787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filmes ganharam diretor (80% da base)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160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código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5074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por filme, que separa homônimos como os dois Titanic</a:t>
            </a:r>
            <a:endParaRPr lang="en-US" sz="1500" dirty="0"/>
          </a:p>
        </p:txBody>
      </p:sp>
      <p:pic>
        <p:nvPicPr>
          <p:cNvPr id="17" name="Image 0" descr="re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63040"/>
            <a:ext cx="4114800" cy="4114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analisar, arrumar a casa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298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442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014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7710221" cy="685800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10.178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1783080"/>
            <a:ext cx="57899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62E"/>
                </a:solidFill>
              </a:rPr>
              <a:t>filmes na base original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7370064" cy="685800"/>
          </a:xfrm>
          <a:prstGeom prst="rect">
            <a:avLst/>
          </a:prstGeom>
          <a:solidFill>
            <a:srgbClr val="A33A47"/>
          </a:solidFill>
          <a:ln w="12700">
            <a:solidFill>
              <a:srgbClr val="A33A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651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9.790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2651760"/>
            <a:ext cx="5449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depois de tirar filmes sem nota e repetidos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3061411" cy="6858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4.642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3792931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62E"/>
                </a:solidFill>
              </a:rPr>
              <a:t>com dinheiro confiável: só esses entram nas contas de ROI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26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 que encontrei pelo caminho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9834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Dinheiro inventado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</a:rPr>
              <a:t>1 em cada 3 receitas com centavos; o mesmo valor em 143 filmes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9834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Bilheteria trocada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</a:rPr>
              <a:t>Titanic (1953) com a receita do Titanic (1997)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9834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Notas sem plateia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</a:rPr>
              <a:t>sem o número de votos, nota 100 de 3 pessoas vale igual a nota de milhões</a:t>
            </a:r>
            <a:endParaRPr lang="en-US" sz="1500" dirty="0"/>
          </a:p>
        </p:txBody>
      </p:sp>
      <p:pic>
        <p:nvPicPr>
          <p:cNvPr id="24" name="Image 0" descr="claqu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371600"/>
            <a:ext cx="2926080" cy="2926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alta dá dinheiro? Quase nunca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298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442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014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645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480"/>
                </a:solidFill>
              </a:rPr>
              <a:t>Correlação mostra o quanto duas coisas sobem juntas: 0 é nenhuma relação, 1 é relação total.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Orçamento e receita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108960" y="2514600"/>
            <a:ext cx="3840480" cy="457200"/>
          </a:xfrm>
          <a:prstGeom prst="rect">
            <a:avLst/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514600"/>
            <a:ext cx="2688336" cy="457200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07024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E"/>
                </a:solidFill>
              </a:rPr>
              <a:t>0,70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Nota e receita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108960" y="3566160"/>
            <a:ext cx="3840480" cy="457200"/>
          </a:xfrm>
          <a:prstGeom prst="rect">
            <a:avLst/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3566160"/>
            <a:ext cx="537667" cy="4572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56355" y="3520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F2B"/>
                </a:solidFill>
              </a:rPr>
              <a:t>0,14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72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Orçamento e nota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108960" y="4617720"/>
            <a:ext cx="3840480" cy="457200"/>
          </a:xfrm>
          <a:prstGeom prst="rect">
            <a:avLst/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55341" y="4617720"/>
            <a:ext cx="153619" cy="457200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18688" y="4572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E"/>
                </a:solidFill>
              </a:rPr>
              <a:t>-0,04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</a:rPr>
              <a:t>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5852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</a:rPr>
              <a:t>nenhuma relação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80"/>
                </a:solidFill>
              </a:rPr>
              <a:t>relação total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2286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0,14</a:t>
            </a:r>
            <a:endParaRPr lang="en-US" sz="60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32004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é a relação entre nota e receita. Quase nada.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72400" y="4206240"/>
            <a:ext cx="3840480" cy="128016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43434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Agradar o público e faturar são objetivos diferentes.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tipos de filme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298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442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014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D9A93F"/>
          </a:solidFill>
          <a:ln w="12700">
            <a:solidFill>
              <a:srgbClr val="D9A9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453 filmes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62E"/>
                </a:solidFill>
              </a:rPr>
              <a:t>Dinheiro sem reputação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</a:rPr>
              <a:t>fatura muito, nota abaixo da mediana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20574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708 filmes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Sucesso completo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fatura muito e tem nota alta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251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1.793 filmes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892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62E"/>
                </a:solidFill>
              </a:rPr>
              <a:t>Nem um nem outro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303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</a:rPr>
              <a:t>pouco dinheiro e nota baixa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0" y="40233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0" y="4251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1.688 filmes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4892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Reputação sem dinheiro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5303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nota alta, bilheteria fora do topo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</a:rPr>
              <a:t>Nota abaixo da mediana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</a:rPr>
              <a:t>Nota acima da mediana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080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</a:rPr>
              <a:t>Os 25% que mais faturaram estão na linha de cima.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 que fazer com isso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21945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Filme bem avaliado e sem bilheteria é quase 4 vezes mais comum do que o contrário.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046720" y="3886200"/>
            <a:ext cx="3566160" cy="2011680"/>
          </a:xfrm>
          <a:prstGeom prst="roundRect">
            <a:avLst>
              <a:gd name="adj" fmla="val 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40233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 cliente precisa escolher, projeto a projeto, se quer bilheteria, reputação ou as duas.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dinheiro, filme melhor? Não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298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442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014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201168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6217920" y="201168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480"/>
                </a:solidFill>
              </a:rPr>
              <a:t>A nota fica entre 65 e 67 em qualquer faixa de orçamento.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Orçamento alto não compra nota. Compra segurança: só 8% dos filmes mais caros deram prejuízo.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faz o filme importa mais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298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442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014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2148840"/>
          <a:ext cx="6583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480"/>
                </a:solidFill>
              </a:rPr>
              <a:t>Quanto cada fator ajuda a explicar a nota de um filme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18288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2743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diretores acertam com frequência: superam a nota esperada em pelo menos 80% dos filmes. Por sorte, seriam cerca de 49.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3794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Nota alta e bom retorno: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Christopher Nolan, Hayao Miyazaki, Peter Jackson.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89520" y="4800600"/>
            <a:ext cx="40233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Escolher o diretor é uma decisão de reputação.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Continuação: o dinheiro fica, a nota cai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298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442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014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178308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6217920" y="178308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 continuação é a aposta mais previsível em dinheiro, e é onde a marca se desgasta. Base: 96 franquias.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gênero rende mais por dólar?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298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442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014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Terror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77440" y="2231136"/>
            <a:ext cx="3491179" cy="219456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1771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3,3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505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Romance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2542032"/>
            <a:ext cx="3364992" cy="219456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15584" y="2505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3,2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Animação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77440" y="2852928"/>
            <a:ext cx="3165196" cy="219456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15788" y="28163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3,0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1272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Mistério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77440" y="3163824"/>
            <a:ext cx="3123133" cy="219456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3725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3,0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438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Comédia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377440" y="3474720"/>
            <a:ext cx="2996946" cy="219456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7538" y="34381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2,9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Família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77440" y="3785616"/>
            <a:ext cx="2902306" cy="219456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52898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059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Fantasia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377440" y="4096512"/>
            <a:ext cx="2818181" cy="219456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68773" y="4059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Aventura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77440" y="4407408"/>
            <a:ext cx="2670962" cy="219456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21554" y="4370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Drama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377440" y="4718304"/>
            <a:ext cx="2481682" cy="219456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32274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2,4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992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Crime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9200"/>
            <a:ext cx="2439619" cy="219456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90211" y="49926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2,3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303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Ação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377440" y="5340096"/>
            <a:ext cx="2334463" cy="219456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85055" y="5303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2,2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614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Ficção científica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377440" y="5650992"/>
            <a:ext cx="2145182" cy="219456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95774" y="5614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2,0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925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Suspense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377440" y="5961888"/>
            <a:ext cx="1987448" cy="219456"/>
          </a:xfrm>
          <a:prstGeom prst="rect">
            <a:avLst/>
          </a:prstGeom>
          <a:solidFill>
            <a:srgbClr val="C4C8CF"/>
          </a:solidFill>
          <a:ln w="12700">
            <a:solidFill>
              <a:srgbClr val="C4C8C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438040" y="5925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1,9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17373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480"/>
                </a:solidFill>
              </a:rPr>
              <a:t>ROI típico por gênero: quantas vezes o filme fatura o que custou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7680960" y="20116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Terror</a:t>
            </a:r>
            <a:endParaRPr lang="en-US" sz="4400" dirty="0"/>
          </a:p>
        </p:txBody>
      </p:sp>
      <p:sp>
        <p:nvSpPr>
          <p:cNvPr id="52" name="Text 50"/>
          <p:cNvSpPr txBox="1"/>
          <p:nvPr/>
        </p:nvSpPr>
        <p:spPr>
          <a:xfrm>
            <a:off x="7680960" y="2926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tem a menor nota (61) e o maior retorno por dólar (3,3 vezes o custo).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7680960" y="37490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2F5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Drama</a:t>
            </a:r>
            <a:endParaRPr lang="en-US" sz="4400" dirty="0"/>
          </a:p>
        </p:txBody>
      </p:sp>
      <p:sp>
        <p:nvSpPr>
          <p:cNvPr id="54" name="Text 52"/>
          <p:cNvSpPr txBox="1"/>
          <p:nvPr/>
        </p:nvSpPr>
        <p:spPr>
          <a:xfrm>
            <a:off x="7680960" y="4663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tem a maior nota (71) e retorno no meio da tabela (2,4 vezes).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que apostar, de acordo com o objetivo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298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442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01400" y="292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</a:rPr>
              <a:t>Se o objetivo é retorno previsível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423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Continuações de franquias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receita se repete; a nota cai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</a:rPr>
              <a:t>Se o objetivo é muito retorno, pouco capital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423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Terror de baixo orçamento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Maior retorno por dólar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</a:rPr>
              <a:t>Se o objetivo é bilheteria segura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17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Orçamentos maiores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303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Só 8% deram prejuízo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</a:rPr>
              <a:t>Se o objetivo é reputação e retorno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617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Diretores com bom histórico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303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116 acertam com frequência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falta, e o próximo passo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830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Número de votos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</a:rPr>
              <a:t>Sem ele, nota de 3 pessoas pesa igual a nota de milhões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874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Trazer do próprio IMDb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803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Dinheiro conferido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</a:rPr>
              <a:t>Ainda há receitas implausíveis, perto de US$ 1 bilhão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971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Conferir no Wikidata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977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Equipe completa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</a:rPr>
              <a:t>Só o diretor foi trazido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4069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Trazer roteirista, produtor e estúdio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0749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Painel interativo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</a:rPr>
              <a:t>Os dados já estão prontos e exportados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5166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Montar o dashboard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</a:rPr>
              <a:t>Próximo passo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0" cy="5029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3504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6035040" y="21945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DADD"/>
                </a:solidFill>
              </a:rPr>
              <a:t>Código, gráficos, dicionário de dados e relatório completo estão no repositório.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Repositório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github.com/danielli-arcari/ProjetodeAnalise_BasedeDadosIMDB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LinkedIn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linkedin.com/in/danielli-arcari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GitHub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chemeClr val="bg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github.com/danielli-arcari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4846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Portfólio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chemeClr val="bg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danielliarcari.vercel.app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nema">
  <a:themeElements>
    <a:clrScheme name="Cinema">
      <a:dk1>
        <a:srgbClr val="22262E"/>
      </a:dk1>
      <a:lt1>
        <a:srgbClr val="FFFFFF"/>
      </a:lt1>
      <a:dk2>
        <a:srgbClr val="7A1F2B"/>
      </a:dk2>
      <a:lt2>
        <a:srgbClr val="F2F3F5"/>
      </a:lt2>
      <a:accent1>
        <a:srgbClr val="7A1F2B"/>
      </a:accent1>
      <a:accent2>
        <a:srgbClr val="D9A93F"/>
      </a:accent2>
      <a:accent3>
        <a:srgbClr val="2F5D8A"/>
      </a:accent3>
      <a:accent4>
        <a:srgbClr val="A33A47"/>
      </a:accent4>
      <a:accent5>
        <a:srgbClr val="6B7480"/>
      </a:accent5>
      <a:accent6>
        <a:srgbClr val="C86A2E"/>
      </a:accent6>
      <a:hlink>
        <a:srgbClr val="2F5D8A"/>
      </a:hlink>
      <a:folHlink>
        <a:srgbClr val="7A1F2B"/>
      </a:folHlink>
    </a:clrScheme>
    <a:fontScheme name="Cinem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Filmes: reputação x retorno financeiro</dc:title>
  <dc:subject>PptxGenJS Presentation</dc:subject>
  <dc:creator>Danielli Arçari</dc:creator>
  <cp:lastModifiedBy>Danielli Arçari</cp:lastModifiedBy>
  <cp:revision>1</cp:revision>
  <dcterms:created xsi:type="dcterms:W3CDTF">2026-10-03T18:27:14Z</dcterms:created>
  <dcterms:modified xsi:type="dcterms:W3CDTF">2026-10-03T18:27:14Z</dcterms:modified>
</cp:coreProperties>
</file>